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815" autoAdjust="0"/>
  </p:normalViewPr>
  <p:slideViewPr>
    <p:cSldViewPr snapToGrid="0">
      <p:cViewPr varScale="1">
        <p:scale>
          <a:sx n="41" d="100"/>
          <a:sy n="41" d="100"/>
        </p:scale>
        <p:origin x="16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Parâmetros</c:v>
          </c:tx>
          <c:spPr>
            <a:solidFill>
              <a:srgbClr val="087F8C"/>
            </a:solidFill>
            <a:ln>
              <a:noFill/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526476"/>
              </a:solidFill>
            </c:spPr>
            <c:extLst>
              <c:ext xmlns:c16="http://schemas.microsoft.com/office/drawing/2014/chart" uri="{C3380CC4-5D6E-409C-BE32-E72D297353CC}">
                <c16:uniqueId val="{00000001-F422-497E-8B48-FD939D2E2732}"/>
              </c:ext>
            </c:extLst>
          </c:dPt>
          <c:dLbls>
            <c:numFmt formatCode="#,##0&quot; bytes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00">
                    <a:solidFill>
                      <a:srgbClr val="12233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Float32</c:v>
                </c:pt>
                <c:pt idx="1">
                  <c:v>Quantizado</c:v>
                </c:pt>
              </c:strCache>
            </c:strRef>
          </c:cat>
          <c:val>
            <c:numRef>
              <c:f>Sheet1!$B$2:$B$3</c:f>
              <c:numCache>
                <c:formatCode>#,##0" bytes"</c:formatCode>
                <c:ptCount val="2"/>
                <c:pt idx="0">
                  <c:v>13488</c:v>
                </c:pt>
                <c:pt idx="1">
                  <c:v>3390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F422-497E-8B48-FD939D2E27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1"/>
          <c:showBubbleSize val="1"/>
        </c:dLbls>
        <c:gapWidth val="90"/>
        <c:axId val="100"/>
        <c:axId val="200"/>
      </c:barChart>
      <c:catAx>
        <c:axId val="10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122333"/>
                </a:solidFill>
                <a:latin typeface="Segoe UI"/>
              </a:defRPr>
            </a:pPr>
            <a:endParaRPr lang="pt-BR"/>
          </a:p>
        </c:txPr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  <c:max val="17500"/>
          <c:min val="0"/>
        </c:scaling>
        <c:delete val="0"/>
        <c:axPos val="t"/>
        <c:numFmt formatCode="#,##0&quot; bytes&quot;" sourceLinked="0"/>
        <c:majorTickMark val="none"/>
        <c:minorTickMark val="none"/>
        <c:tickLblPos val="none"/>
        <c:spPr>
          <a:ln>
            <a:noFill/>
          </a:ln>
        </c:spPr>
        <c:crossAx val="100"/>
        <c:crosses val="autoZero"/>
        <c:crossBetween val="between"/>
      </c:valAx>
    </c:plotArea>
    <c:plotVisOnly val="1"/>
    <c:dispBlanksAs val="zero"/>
    <c:showDLblsOverMax val="1"/>
  </c:chart>
  <c:spPr>
    <a:solidFill>
      <a:srgbClr val="F8FAFB"/>
    </a:solidFill>
    <a:ln>
      <a:noFill/>
    </a:ln>
  </c:spPr>
  <c:txPr>
    <a:bodyPr/>
    <a:lstStyle/>
    <a:p>
      <a:pPr>
        <a:defRPr sz="1800">
          <a:solidFill>
            <a:srgbClr val="122333"/>
          </a:solidFill>
          <a:latin typeface="Segoe UI"/>
        </a:defRPr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Recall</c:v>
          </c:tx>
          <c:spPr>
            <a:solidFill>
              <a:srgbClr val="087F8C"/>
            </a:solidFill>
            <a:ln>
              <a:noFill/>
            </a:ln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900">
                    <a:solidFill>
                      <a:srgbClr val="122333"/>
                    </a:solidFill>
                    <a:latin typeface="Segoe UI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Andando</c:v>
                </c:pt>
                <c:pt idx="1">
                  <c:v>Subindo escadas</c:v>
                </c:pt>
                <c:pt idx="2">
                  <c:v>Descendo escadas</c:v>
                </c:pt>
                <c:pt idx="3">
                  <c:v>Sentado</c:v>
                </c:pt>
                <c:pt idx="4">
                  <c:v>Em pé</c:v>
                </c:pt>
                <c:pt idx="5">
                  <c:v>Deitado</c:v>
                </c:pt>
              </c:strCache>
            </c:strRef>
          </c:cat>
          <c:val>
            <c:numRef>
              <c:f>Sheet1!$B$2:$B$7</c:f>
              <c:numCache>
                <c:formatCode>0.0%</c:formatCode>
                <c:ptCount val="6"/>
                <c:pt idx="0">
                  <c:v>0.99395161290322576</c:v>
                </c:pt>
                <c:pt idx="1">
                  <c:v>0.94904458598726116</c:v>
                </c:pt>
                <c:pt idx="2">
                  <c:v>0.96428571428571441</c:v>
                </c:pt>
                <c:pt idx="3">
                  <c:v>0.89816700610997968</c:v>
                </c:pt>
                <c:pt idx="4">
                  <c:v>0.97180451127819545</c:v>
                </c:pt>
                <c:pt idx="5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246-47B6-886B-3780EAD599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1"/>
          <c:showBubbleSize val="1"/>
        </c:dLbls>
        <c:gapWidth val="90"/>
        <c:axId val="100"/>
        <c:axId val="200"/>
      </c:barChart>
      <c:catAx>
        <c:axId val="100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122333"/>
                </a:solidFill>
                <a:latin typeface="Segoe UI"/>
              </a:defRPr>
            </a:pPr>
            <a:endParaRPr lang="pt-BR"/>
          </a:p>
        </c:txPr>
        <c:crossAx val="200"/>
        <c:crosses val="autoZero"/>
        <c:auto val="1"/>
        <c:lblAlgn val="ctr"/>
        <c:lblOffset val="100"/>
        <c:noMultiLvlLbl val="1"/>
      </c:catAx>
      <c:valAx>
        <c:axId val="200"/>
        <c:scaling>
          <c:orientation val="minMax"/>
          <c:max val="1.1499999999999999"/>
          <c:min val="0"/>
        </c:scaling>
        <c:delete val="0"/>
        <c:axPos val="t"/>
        <c:numFmt formatCode="0.0%" sourceLinked="0"/>
        <c:majorTickMark val="none"/>
        <c:minorTickMark val="none"/>
        <c:tickLblPos val="none"/>
        <c:spPr>
          <a:ln>
            <a:noFill/>
          </a:ln>
        </c:spPr>
        <c:crossAx val="100"/>
        <c:crosses val="autoZero"/>
        <c:crossBetween val="between"/>
      </c:valAx>
    </c:plotArea>
    <c:plotVisOnly val="1"/>
    <c:dispBlanksAs val="zero"/>
    <c:showDLblsOverMax val="1"/>
  </c:chart>
  <c:spPr>
    <a:solidFill>
      <a:srgbClr val="F8FAFB"/>
    </a:solidFill>
    <a:ln>
      <a:noFill/>
    </a:ln>
  </c:spPr>
  <c:txPr>
    <a:bodyPr/>
    <a:lstStyle/>
    <a:p>
      <a:pPr>
        <a:defRPr sz="1800">
          <a:solidFill>
            <a:srgbClr val="122333"/>
          </a:solidFill>
          <a:latin typeface="Segoe UI"/>
        </a:defRPr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7ADB4-15DB-4556-BE3D-7C1C2B257AA6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DD07A-63A4-4373-BC2E-CF052509444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0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0:00 a 0:30 (30 segundos)</a:t>
            </a:r>
          </a:p>
          <a:p>
            <a:endParaRPr lang="pt-BR"/>
          </a:p>
          <a:p>
            <a:r>
              <a:rPr lang="pt-BR"/>
              <a:t>Neste trabalho desenvolvi um classificador para reconhecer atividades humanas e executar a inferência no ESP32-S3. O foco é treinar um modelo compacto, quantizá-lo e demonstrar a classificação local com dados reais do teste.</a:t>
            </a:r>
          </a:p>
          <a:p>
            <a:r>
              <a:rPr lang="pt-BR"/>
              <a:t>Apresentação planejada: 9 minutos e 30 segundos. Reservo 30 segundos para transições ou demora da simulação. Os dois últimos slides são apoio para perguntas e ficam ocultos no modo de apresentação.</a:t>
            </a:r>
          </a:p>
          <a:p>
            <a:r>
              <a:rPr lang="pt-BR"/>
              <a:t>Fonte: UCI HAR, Reyes-Ortiz et al. (2013). https://archive.ics.uci.edu/dataset/240/human+activity+recognition+using+smartphones. DOI 10.24432/C54S4K.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067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0:30 a 1:15 (45 segundos)</a:t>
            </a:r>
          </a:p>
          <a:p>
            <a:endParaRPr lang="pt-BR"/>
          </a:p>
          <a:p>
            <a:r>
              <a:rPr lang="pt-BR"/>
              <a:t>Na atividade anterior eu li um MPU6050 com ESP32-S3 e ESP-IDF. Aqui avanço para o treinamento e a classificação embarcada. No computador faço o treino e a quantização. Na placa simulada executo a inferência sobre as características prontas da UCI, que ficam na flash.</a:t>
            </a:r>
          </a:p>
          <a:p>
            <a:r>
              <a:rPr lang="pt-BR"/>
              <a:t>É importante distinguir essa etapa da aquisição ao vivo: o modelo recebe uma janela representada por 561 características. Para usar um MPU6050 real, ainda precisaria reproduzir a extração ou mudar o modelo.</a:t>
            </a:r>
          </a:p>
          <a:p>
            <a:r>
              <a:rPr lang="pt-BR"/>
              <a:t>Fontes: README.md e main/main.c. Atividade anterior: https://github.com/andradefisio/ia-embarcada-atividade-aula-02.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13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1:15 a 2:10 (55 segundos)</a:t>
            </a:r>
          </a:p>
          <a:p>
            <a:endParaRPr lang="pt-BR"/>
          </a:p>
          <a:p>
            <a:r>
              <a:rPr lang="pt-BR"/>
              <a:t>Usei o UCI HAR, coletado com 30 voluntários e smartphone na cintura. Acelerômetro e giroscópio foram amostrados a 50 Hz. Cada janela tem 128 leituras, duração de 2,56 segundos e sobreposição de 50%.</a:t>
            </a:r>
          </a:p>
          <a:p>
            <a:r>
              <a:rPr lang="pt-BR"/>
              <a:t>O dataset já fornece 561 características no tempo e na frequência. O modelo classifica seis atividades, que aparecem aqui. Uso os vetores X_train e X_test já normalizados entre menos um e um pela UCI.</a:t>
            </a:r>
          </a:p>
          <a:p>
            <a:r>
              <a:rPr lang="pt-BR"/>
              <a:t>Fonte: UCI HAR, Reyes-Ortiz et al. (2013). https://archive.ics.uci.edu/dataset/240/human+activity+recognition+using+smartphones. DOI 10.24432/C54S4K.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103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2:10 a 3:10 (60 segundos)</a:t>
            </a:r>
          </a:p>
          <a:p>
            <a:endParaRPr lang="pt-BR"/>
          </a:p>
          <a:p>
            <a:r>
              <a:rPr lang="pt-BR"/>
              <a:t>Mantive a divisão oficial por voluntário: 21 pessoas no treino e outras nove no teste. Essa separação importa porque janelas próximas têm sobreposição. Se eu misturasse as janelas da mesma pessoa, a avaliação poderia ficar otimista.</a:t>
            </a:r>
          </a:p>
          <a:p>
            <a:r>
              <a:rPr lang="pt-BR"/>
              <a:t>Na validação interna separei seis participantes do treino com GroupShuffleSplit e semente 42. Comparei C igual a 0,1, 1 e 10. Escolhi C igual a 1 pela validação, com 95,58%, refiz o treinamento no conjunto de treino completo e só depois avaliei o teste oficial.</a:t>
            </a:r>
          </a:p>
          <a:p>
            <a:r>
              <a:rPr lang="pt-BR"/>
              <a:t>O teste não participou da escolha da configuração nem da escala dos pesos quantizados.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2633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3:10 a 4:05 (55 segundos)</a:t>
            </a:r>
          </a:p>
          <a:p>
            <a:endParaRPr lang="pt-BR"/>
          </a:p>
          <a:p>
            <a:r>
              <a:rPr lang="pt-BR"/>
              <a:t>Escolhi regressão logística multiclasse para ter um modelo compacto e fácil de explicar. Ela combina 561 entradas com um conjunto de pesos para cada uma das seis classes e acrescenta um bias.</a:t>
            </a:r>
          </a:p>
          <a:p>
            <a:r>
              <a:rPr lang="pt-BR"/>
              <a:t>O maior escore define a atividade prevista. A softmax poderia transformar os escores em probabilidades, mas não mudaria a classe vencedora, então dispensei esse cálculo no firmware.</a:t>
            </a:r>
          </a:p>
          <a:p>
            <a:r>
              <a:rPr lang="pt-BR"/>
              <a:t>Cada janela exige 561 vezes seis, ou 3.366 multiplicações. O modelo não é uma rede profunda nem um arquivo TensorFlow Lite. A inferência é uma implementação explícita em C.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354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4:05 a 5:05 (60 segundos)</a:t>
            </a:r>
          </a:p>
          <a:p>
            <a:endParaRPr lang="pt-BR"/>
          </a:p>
          <a:p>
            <a:r>
              <a:rPr lang="pt-BR"/>
              <a:t>O treinamento gera parâmetros em ponto flutuante. Quantizei entradas e pesos para int8. O bias e o acumulador usam int32 para evitar overflow.</a:t>
            </a:r>
          </a:p>
          <a:p>
            <a:r>
              <a:rPr lang="pt-BR"/>
              <a:t>As entradas da UCI já estão entre menos um e um. Uso escala 1 dividido por 127 e zero point zero. Para os pesos uso a magnitude máxima do modelo treinado dividida por 127. O bias usa a escala do produto da entrada pelo peso.</a:t>
            </a:r>
          </a:p>
          <a:p>
            <a:r>
              <a:rPr lang="pt-BR"/>
              <a:t>Todas as classes compartilham uma escala positiva, então posso comparar seus escores inteiros diretamente. Verifiquei um limite conservador abaixo do máximo de int32. Os escores não são probabilidades.</a:t>
            </a:r>
          </a:p>
          <a:p>
            <a:r>
              <a:rPr lang="pt-BR"/>
              <a:t>Se perguntarem sobre as fórmulas, uso o slide de apoio de quantização.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906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5:05 a 6:10 (65 segundos)</a:t>
            </a:r>
          </a:p>
          <a:p>
            <a:endParaRPr lang="pt-BR"/>
          </a:p>
          <a:p>
            <a:r>
              <a:rPr lang="pt-BR"/>
              <a:t>No teste oficial, o modelo float32 atingiu 96,1317% e o quantizado 96,3692%. Arredondo aqui para duas casas. A pequena melhora é específica deste teste e não significa que quantização sempre aumenta a acurácia. Quinze previsões mudaram.</a:t>
            </a:r>
          </a:p>
          <a:p>
            <a:r>
              <a:rPr lang="pt-BR"/>
              <a:t>Os pesos e o bias passaram de 13.488 para 3.390 bytes, redução de 74,87%. Isso mede apenas os parâmetros, não o firmware inteiro. O teste completo usa cerca de 1,58 MiB na flash. A aplicação compilada tem 1.847.520 bytes e cabe na partição de 3 MiB.</a:t>
            </a:r>
          </a:p>
          <a:p>
            <a:r>
              <a:rPr lang="pt-BR"/>
              <a:t>Comparei todos os 17.682 escores C com a referência Python e eles foram exatamente iguais, com 2.840 acertos em 2.947 janelas.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0171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6:10 a 6:55 (45 segundos)</a:t>
            </a:r>
          </a:p>
          <a:p>
            <a:endParaRPr lang="pt-BR"/>
          </a:p>
          <a:p>
            <a:r>
              <a:rPr lang="pt-BR"/>
              <a:t>O principal ponto de confusão foram as posturas sentado e em pé. Quarenta e sete janelas de sentado foram previstas como em pé, e quatorze fizeram o caminho contrário.</a:t>
            </a:r>
          </a:p>
          <a:p>
            <a:r>
              <a:rPr lang="pt-BR"/>
              <a:t>O gráfico mostra recall, isto é, a proporção de janelas de cada atividade reconhecida corretamente. Sentado teve 89,82%, menor que as outras classes. O resultado de 100% para deitado vale para esse teste, não é uma garantia fora dele.</a:t>
            </a:r>
          </a:p>
          <a:p>
            <a:r>
              <a:rPr lang="pt-BR"/>
              <a:t>Se pedirem detalhes, a matriz completa está no último slide de apoio.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762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6:55 a 8:45 (110 segundos)</a:t>
            </a:r>
          </a:p>
          <a:p>
            <a:endParaRPr lang="pt-BR"/>
          </a:p>
          <a:p>
            <a:r>
              <a:rPr lang="pt-BR"/>
              <a:t>Nesta etapa saio do PowerPoint e mostro a simulação no VS Code. O firmware precisa estar compilado e a extensão deve estar configurada antes da aula. Inicio Wokwi: Start Simulator. A demonstração de 30 janelas dura aproximadamente 54 segundos, mais o tempo de inferência.</a:t>
            </a:r>
          </a:p>
          <a:p>
            <a:r>
              <a:rPr lang="pt-BR"/>
              <a:t>Enquanto os exemplos passam, explico que o ESP32 lê os vetores de características na flash e calcula a previsão. Só depois consulta o rótulo para contar os acertos. Verde indica acerto, vermelho indica erro. Escolhi as primeiras cinco amostras de cada classe pela ordem original, sem selecionar pelos acertos.</a:t>
            </a:r>
          </a:p>
          <a:p>
            <a:r>
              <a:rPr lang="pt-BR"/>
              <a:t>Depois do resumo clico TESTE COMPLETO. Ele classifica todas as 2.947 janelas e imprime acurácia e matriz de confusão. A referência nativa C é 2.840 acertos, 96,3692%. O ensaio de Wokwi ainda deve ser realizado antes da aula. Não apresento a referência como captura da simulação.</a:t>
            </a:r>
          </a:p>
          <a:p>
            <a:r>
              <a:rPr lang="pt-BR"/>
              <a:t>Se houver demora, avanço para a conclusão. Se a simulação não abrir, mostro a referência verificada e digo claramente que ela vem da avaliação nativa. Tempos do simulador não representam desempenho de uma placa física.</a:t>
            </a:r>
          </a:p>
          <a:p>
            <a:r>
              <a:rPr lang="pt-BR"/>
              <a:t>Fontes: main/main.c, main/generated/test_data.h e results/c_verification.json. Guia: https://docs.wokwi.com/vscode/project-config.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75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8:45 a 9:30 (45 segundos), com 30 segundos de margem até 10:00</a:t>
            </a:r>
          </a:p>
          <a:p>
            <a:endParaRPr lang="pt-BR"/>
          </a:p>
          <a:p>
            <a:r>
              <a:rPr lang="pt-BR"/>
              <a:t>Concluí o fluxo de treinamento, avaliação, quantização e implementação de um classificador no ESP32-S3. O modelo quantizado manteve cerca de 96% de acurácia no teste e reduziu em aproximadamente 75% a memória dos parâmetros. A compilação e a comparação do núcleo C foram concluídas.</a:t>
            </a:r>
          </a:p>
          <a:p>
            <a:r>
              <a:rPr lang="pt-BR"/>
              <a:t>A extração das características ainda vem da UCI. Para uso com um sensor real, eu implementaria esse processamento ou treinaria outro modelo para janelas de sinais inerciais. Também mediria RAM, latência e energia em uma placa física.</a:t>
            </a:r>
          </a:p>
          <a:p>
            <a:r>
              <a:rPr lang="pt-BR"/>
              <a:t>O dataset usa adultos e smartphone na cintura. Outra posição de sensor ou outro perfil de usuário pode alterar o desempenho. O modelo sempre escolhe uma das seis atividades conhecidas, sem rejeição de atividade desconhecida. Este projeto não constitui validação clínica.</a:t>
            </a:r>
          </a:p>
          <a:p>
            <a:r>
              <a:rPr lang="pt-BR"/>
              <a:t>Encerro em 9 minutos e 30 segundos, preservando 30 segundos para transições. Perguntas podem usar os slides ocultos de apoio.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9584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Uso apenas em perguntas</a:t>
            </a:r>
          </a:p>
          <a:p>
            <a:endParaRPr lang="pt-BR"/>
          </a:p>
          <a:p>
            <a:r>
              <a:rPr lang="pt-BR"/>
              <a:t>Entradas normalizadas: sx = 1/127 e qx = clip(round(x/sx), -127, 127).</a:t>
            </a:r>
          </a:p>
          <a:p>
            <a:r>
              <a:rPr lang="pt-BR"/>
              <a:t>Pesos: sw = max(abs(W))/127 e qW = clip(round(W/sw), -127, 127).</a:t>
            </a:r>
          </a:p>
          <a:p>
            <a:r>
              <a:rPr lang="pt-BR"/>
              <a:t>Bias: qb = round(b/(sx × sw)).</a:t>
            </a:r>
          </a:p>
          <a:p>
            <a:r>
              <a:rPr lang="pt-BR"/>
              <a:t>Escore inteiro: qb[c] + soma(qx[j] × qW[c,j]). Todas as classes compartilham sx × sw, por isso o argmax inteiro mantém a comparação na escala comum.</a:t>
            </a:r>
          </a:p>
          <a:p>
            <a:r>
              <a:rPr lang="pt-BR"/>
              <a:t>O maior limite conservador do acumulador é 9.049.862, menor que 2.147.483.647. Empate favorece a primeira classe. Esta é quantização explícita, sem runtime TensorFlow Lite.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5229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Uso apenas em perguntas</a:t>
            </a:r>
          </a:p>
          <a:p>
            <a:endParaRPr lang="pt-BR"/>
          </a:p>
          <a:p>
            <a:r>
              <a:rPr lang="pt-BR"/>
              <a:t>Linhas são rótulos reais, colunas são previsões. Ordem: andando, subindo escadas, descendo escadas, sentado, em pé, deitado. A soma das células é 2.947, e a diagonal soma 2.840.</a:t>
            </a:r>
          </a:p>
          <a:p>
            <a:r>
              <a:rPr lang="pt-BR"/>
              <a:t>Precisão mede o acerto entre as previsões de uma classe. Recall mede a fração reconhecida entre as janelas reais dessa classe. F1 macro do modelo quantizado: 96,3588%.</a:t>
            </a:r>
          </a:p>
          <a:p>
            <a:r>
              <a:rPr lang="pt-BR"/>
              <a:t>Fonte: results/metrics.json, results/c_verification.json e firmware do projeto. Dataset usado: UCI HAR.</a:t>
            </a:r>
          </a:p>
          <a:p>
            <a:r>
              <a:rPr lang="pt-BR"/>
              <a:t>Fonte: UCI HAR, Reyes-Ortiz et al. (2013). https://archive.ics.uci.edu/dataset/240/human+activity+recognition+using+smartphones. DOI 10.24432/C54S4K.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D07A-63A4-4373-BC2E-CF052509444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64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A94BFE-61BC-445E-DCC2-4013BE3BD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259AD0-8460-EE88-9390-CB91CD8F2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BFE9C7-FA86-103F-F3CA-5E4C3A4D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155AAC-A35A-62F8-0D44-B04DF038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3FF570-C94F-8274-AE84-B3B2EBD2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02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F2AA6-05C0-19CE-680F-1872D8F4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E5E82C-0F70-C6CF-8F80-527F881B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444FBF-0848-6229-0E62-F550C079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6F3222-BDC7-4522-C8E7-440B648F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7DB4AD-7AF3-CA8B-1DAB-E69BBB410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47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BEA5C-5E63-BFCC-2260-B3087809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EAC63B-FC0B-F9E8-3EEC-3CBAD608A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93324F-8DDA-C7F1-205F-2D6AB1DD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31E60D-5054-A651-5FC5-4B073D13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1F0C75-671B-8F7A-2CF8-EC59A6DB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187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3362C-2140-B40B-9143-902705FD4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902059-5ED7-DB5D-D7AD-7D2A4DB5E1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95705E-F26A-705C-8791-595F21E51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149BCB-DF01-D5FF-AAC3-7883A445C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B1D7D1-C1A2-03FE-6B5D-EC1CCE942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DA6FF3-D181-8859-DA98-D1E390AB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088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F89DC-11C5-EF39-E8FF-4B1CAA91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CE43F5-9696-DED0-80ED-6F1BFB9A3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780207C-A62C-DCC6-45CE-8ACDDEAF5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A49E66-B1F2-4808-24DE-BDAD75019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160199B-0A7B-B45B-9ED5-9BCCF4B6C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941522-15F6-31F7-01AE-9C0A0E54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976988-187F-0027-86C3-F37A25F05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232A1E-609F-A333-EE33-61E2A1D4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924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4C9C2-91A5-124F-308B-550094A18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5C735ED-5250-BEDD-B6A5-FE09036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319AAF-A9C4-B93B-DCB2-755FA63E5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4CB3B23-A890-6B31-D5AC-075AACDB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31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77410F-0FE6-04D2-9E9D-44A23E1C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B5E36C-199A-1763-12E5-391215D7E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7C4044-3BF3-37B2-8EE1-B8D4B626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535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24078-F2B8-FEDF-709C-A9E3D5E66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9F6016-D894-ED6C-EC88-FE9ED742A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B4EA4E-4664-9452-9774-962DA6812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C30217-F6BF-60EE-DAE6-D7217EA2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1A17D2-8AE5-3007-5DCB-F7B8C67C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66D0908-7985-BE67-9229-63D3168DF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34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5E108-A141-CD4F-E905-F4754BA1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D2BB54-E5FB-C9B7-1945-770485BA3B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E071C5-69FF-BFEB-FA1C-C292AC8BB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9B3C17-F698-85A5-FE2A-0E7DE47CB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6C7240-AACF-3D61-8BD7-15876F32D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0ECF56-1F32-C889-3B59-AE000192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471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FE29F9-39D7-1DD1-46D8-4B5D8A49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D33E63C-A242-791F-3E76-7D908EB99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2D3E3A-D89C-3B05-7DFE-94061BE2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97C0FF-18C6-7BF1-3469-7EF172444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943886-91DC-2861-AD8B-F3EE98E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04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7595A7-EB48-665D-E2E2-C9074AA1DF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470ECF-6BC2-143A-8C01-99B77BB1E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7D9B89-F910-C3AD-B0B5-2D2AEEA3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1BA363-4579-7199-31B9-3C733EB6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2BDF3E-043C-32E2-C80A-18FEAD48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721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6F8B56-74D7-6162-64E9-E9A20414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A5E69C-A424-E6F4-CCB8-B49EA82E4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CAE2EB-C036-1D55-C54B-A95F5534F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DF00AE-C487-45BB-A8A3-603D3B0ACC14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4087F9-CD23-EED8-2A29-37F9318BF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D05298-6D9E-D58A-9FBC-0BDB65CAA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2F2900-7CE1-461C-8D58-4ABF0520BB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013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A0AE080-DF04-4D74-8542-710994DACACC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01 / 10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FE3310E-2DA3-A7F4-B567-0920B99BA121}"/>
              </a:ext>
            </a:extLst>
          </p:cNvPr>
          <p:cNvSpPr txBox="1"/>
          <p:nvPr/>
        </p:nvSpPr>
        <p:spPr>
          <a:xfrm>
            <a:off x="660400" y="740230"/>
            <a:ext cx="10541000" cy="158931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400" b="1" dirty="0">
                <a:solidFill>
                  <a:srgbClr val="CED9DF"/>
                </a:solidFill>
                <a:latin typeface="Segoe UI" panose="020B0502040204020203" pitchFamily="34" charset="0"/>
              </a:rPr>
              <a:t>PÓS-GRADUAÇÃO EM INTELIGÊNCIA ARTIFICIAL APLICADA – UNISENAI</a:t>
            </a:r>
          </a:p>
          <a:p>
            <a:pPr algn="ctr"/>
            <a:endParaRPr lang="pt-BR" sz="1400" b="1" dirty="0">
              <a:solidFill>
                <a:srgbClr val="CED9DF"/>
              </a:solidFill>
              <a:latin typeface="Segoe UI" panose="020B0502040204020203" pitchFamily="34" charset="0"/>
            </a:endParaRPr>
          </a:p>
          <a:p>
            <a:r>
              <a:rPr lang="pt-BR" sz="1400" dirty="0">
                <a:solidFill>
                  <a:srgbClr val="CED9DF"/>
                </a:solidFill>
                <a:latin typeface="Segoe UI" panose="020B0502040204020203" pitchFamily="34" charset="0"/>
              </a:rPr>
              <a:t>Unidade Curricular: IA Embarcada e Modelos Compactos</a:t>
            </a:r>
          </a:p>
          <a:p>
            <a:endParaRPr lang="pt-BR" sz="1400" dirty="0">
              <a:solidFill>
                <a:srgbClr val="CED9DF"/>
              </a:solidFill>
              <a:latin typeface="Segoe UI" panose="020B0502040204020203" pitchFamily="34" charset="0"/>
            </a:endParaRPr>
          </a:p>
          <a:p>
            <a:r>
              <a:rPr lang="pt-BR" sz="1400" dirty="0">
                <a:solidFill>
                  <a:srgbClr val="CED9DF"/>
                </a:solidFill>
                <a:latin typeface="Segoe UI" panose="020B0502040204020203" pitchFamily="34" charset="0"/>
              </a:rPr>
              <a:t>Docente: Prof. Rodrigo </a:t>
            </a:r>
            <a:r>
              <a:rPr lang="pt-BR" sz="1400" dirty="0" err="1">
                <a:solidFill>
                  <a:srgbClr val="CED9DF"/>
                </a:solidFill>
                <a:latin typeface="Segoe UI" panose="020B0502040204020203" pitchFamily="34" charset="0"/>
              </a:rPr>
              <a:t>Kobashikawa</a:t>
            </a:r>
            <a:r>
              <a:rPr lang="pt-BR" sz="1400" dirty="0">
                <a:solidFill>
                  <a:srgbClr val="CED9DF"/>
                </a:solidFill>
                <a:latin typeface="Segoe UI" panose="020B0502040204020203" pitchFamily="34" charset="0"/>
              </a:rPr>
              <a:t> Rosa</a:t>
            </a:r>
          </a:p>
          <a:p>
            <a:r>
              <a:rPr lang="pt-BR" sz="1400" dirty="0">
                <a:solidFill>
                  <a:srgbClr val="CED9DF"/>
                </a:solidFill>
                <a:latin typeface="Segoe UI" panose="020B0502040204020203" pitchFamily="34" charset="0"/>
              </a:rPr>
              <a:t>Discente: Antonio C Ferraz de Andrade.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1C786EC-7D14-2CF5-0A03-74CFB0D9C44E}"/>
              </a:ext>
            </a:extLst>
          </p:cNvPr>
          <p:cNvSpPr txBox="1"/>
          <p:nvPr/>
        </p:nvSpPr>
        <p:spPr>
          <a:xfrm>
            <a:off x="660400" y="2778845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4900" b="1" dirty="0">
                <a:solidFill>
                  <a:srgbClr val="FFFFFF"/>
                </a:solidFill>
                <a:latin typeface="Segoe UI" panose="020B0502040204020203" pitchFamily="34" charset="0"/>
              </a:rPr>
              <a:t>Reconhecimento de</a:t>
            </a:r>
          </a:p>
          <a:p>
            <a:r>
              <a:rPr lang="pt-BR" sz="4900" b="1" dirty="0">
                <a:solidFill>
                  <a:srgbClr val="FFFFFF"/>
                </a:solidFill>
                <a:latin typeface="Segoe UI" panose="020B0502040204020203" pitchFamily="34" charset="0"/>
              </a:rPr>
              <a:t>atividades humanas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B3303E-D613-565D-6497-1504D8DAE8AA}"/>
              </a:ext>
            </a:extLst>
          </p:cNvPr>
          <p:cNvSpPr txBox="1"/>
          <p:nvPr/>
        </p:nvSpPr>
        <p:spPr>
          <a:xfrm>
            <a:off x="698500" y="4965700"/>
            <a:ext cx="1041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dirty="0">
                <a:solidFill>
                  <a:srgbClr val="FFFFFF"/>
                </a:solidFill>
                <a:latin typeface="Segoe UI" panose="020B0502040204020203" pitchFamily="34" charset="0"/>
              </a:rPr>
              <a:t>Modelo compacto no ESP32-S3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925185-2992-3195-36F7-7EE78DB34CE1}"/>
              </a:ext>
            </a:extLst>
          </p:cNvPr>
          <p:cNvSpPr txBox="1"/>
          <p:nvPr/>
        </p:nvSpPr>
        <p:spPr>
          <a:xfrm>
            <a:off x="698500" y="59690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CED9DF"/>
                </a:solidFill>
                <a:latin typeface="Segoe UI" panose="020B0502040204020203" pitchFamily="34" charset="0"/>
              </a:rPr>
              <a:t>Projeto final</a:t>
            </a:r>
          </a:p>
        </p:txBody>
      </p:sp>
    </p:spTree>
    <p:extLst>
      <p:ext uri="{BB962C8B-B14F-4D97-AF65-F5344CB8AC3E}">
        <p14:creationId xmlns:p14="http://schemas.microsoft.com/office/powerpoint/2010/main" val="188703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6961138-623B-0F2C-BCA0-59D243FFAF44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Escopo do projeto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912E38-1AE4-1C5D-1D8B-741418FC11E0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02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DD73395-6120-1174-7885-DA61F14207C0}"/>
              </a:ext>
            </a:extLst>
          </p:cNvPr>
          <p:cNvSpPr txBox="1"/>
          <p:nvPr/>
        </p:nvSpPr>
        <p:spPr>
          <a:xfrm>
            <a:off x="609600" y="19685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87F8C"/>
                </a:solidFill>
                <a:latin typeface="Segoe UI" panose="020B0502040204020203" pitchFamily="34" charset="0"/>
              </a:rPr>
              <a:t>No computador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746FAB4-8D07-6371-548A-3221309891DD}"/>
              </a:ext>
            </a:extLst>
          </p:cNvPr>
          <p:cNvSpPr txBox="1"/>
          <p:nvPr/>
        </p:nvSpPr>
        <p:spPr>
          <a:xfrm>
            <a:off x="609600" y="27051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Treinamento e validação</a:t>
            </a:r>
          </a:p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Quantização e exportação C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F726BCD-458E-AF1A-91E6-252DADB4265A}"/>
              </a:ext>
            </a:extLst>
          </p:cNvPr>
          <p:cNvSpPr txBox="1"/>
          <p:nvPr/>
        </p:nvSpPr>
        <p:spPr>
          <a:xfrm>
            <a:off x="6667500" y="19685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87F8C"/>
                </a:solidFill>
                <a:latin typeface="Segoe UI" panose="020B0502040204020203" pitchFamily="34" charset="0"/>
              </a:rPr>
              <a:t>No ESP32-S3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53F22D8-2628-D1EE-8855-F84FA6E4551B}"/>
              </a:ext>
            </a:extLst>
          </p:cNvPr>
          <p:cNvSpPr txBox="1"/>
          <p:nvPr/>
        </p:nvSpPr>
        <p:spPr>
          <a:xfrm>
            <a:off x="6667500" y="2705100"/>
            <a:ext cx="491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Inferência com dados de teste</a:t>
            </a:r>
          </a:p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Comparação com o rótulo real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517A0BC-8E0D-75A9-7762-9C67161ADFBF}"/>
              </a:ext>
            </a:extLst>
          </p:cNvPr>
          <p:cNvSpPr txBox="1"/>
          <p:nvPr/>
        </p:nvSpPr>
        <p:spPr>
          <a:xfrm>
            <a:off x="609600" y="5219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526476"/>
                </a:solidFill>
                <a:latin typeface="Segoe UI" panose="020B0502040204020203" pitchFamily="34" charset="0"/>
              </a:rPr>
              <a:t>Entrada desta etapa: características já extraídas pela UCI</a:t>
            </a:r>
          </a:p>
        </p:txBody>
      </p:sp>
    </p:spTree>
    <p:extLst>
      <p:ext uri="{BB962C8B-B14F-4D97-AF65-F5344CB8AC3E}">
        <p14:creationId xmlns:p14="http://schemas.microsoft.com/office/powerpoint/2010/main" val="134557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4D4203-4277-DEBA-3892-DBBD6D2902C8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Dados de atividades humanas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3F6372-ECDF-7D02-3461-4721CBCD1B72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03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4BF6083-1E57-8303-DE1E-02092B104A52}"/>
              </a:ext>
            </a:extLst>
          </p:cNvPr>
          <p:cNvSpPr txBox="1"/>
          <p:nvPr/>
        </p:nvSpPr>
        <p:spPr>
          <a:xfrm>
            <a:off x="609600" y="18415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6800" b="1">
                <a:solidFill>
                  <a:srgbClr val="087F8C"/>
                </a:solidFill>
                <a:latin typeface="Segoe UI" panose="020B0502040204020203" pitchFamily="34" charset="0"/>
              </a:rPr>
              <a:t>561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403DB2-A5A8-A4F5-46CA-0187E804305C}"/>
              </a:ext>
            </a:extLst>
          </p:cNvPr>
          <p:cNvSpPr txBox="1"/>
          <p:nvPr/>
        </p:nvSpPr>
        <p:spPr>
          <a:xfrm>
            <a:off x="647700" y="3111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características por janela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ADA087-AB26-13B9-C2D1-8CE84A8CBD59}"/>
              </a:ext>
            </a:extLst>
          </p:cNvPr>
          <p:cNvSpPr txBox="1"/>
          <p:nvPr/>
        </p:nvSpPr>
        <p:spPr>
          <a:xfrm>
            <a:off x="6756400" y="18415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6800" b="1">
                <a:solidFill>
                  <a:srgbClr val="122333"/>
                </a:solidFill>
                <a:latin typeface="Segoe UI" panose="020B0502040204020203" pitchFamily="34" charset="0"/>
              </a:rPr>
              <a:t>2,56 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16D79B-C809-CD35-9482-01343B51E1DC}"/>
              </a:ext>
            </a:extLst>
          </p:cNvPr>
          <p:cNvSpPr txBox="1"/>
          <p:nvPr/>
        </p:nvSpPr>
        <p:spPr>
          <a:xfrm>
            <a:off x="6794500" y="3111500"/>
            <a:ext cx="4787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128 leituras a 50 Hz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18D3C40-5538-FBA4-D573-682BD3A89636}"/>
              </a:ext>
            </a:extLst>
          </p:cNvPr>
          <p:cNvSpPr txBox="1"/>
          <p:nvPr/>
        </p:nvSpPr>
        <p:spPr>
          <a:xfrm>
            <a:off x="609600" y="4356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>
                <a:solidFill>
                  <a:srgbClr val="122333"/>
                </a:solidFill>
                <a:latin typeface="Segoe UI" panose="020B0502040204020203" pitchFamily="34" charset="0"/>
              </a:rPr>
              <a:t>Andar     Subir escadas     Descer escadas</a:t>
            </a:r>
          </a:p>
          <a:p>
            <a:r>
              <a:rPr lang="pt-BR" sz="2400">
                <a:solidFill>
                  <a:srgbClr val="122333"/>
                </a:solidFill>
                <a:latin typeface="Segoe UI" panose="020B0502040204020203" pitchFamily="34" charset="0"/>
              </a:rPr>
              <a:t>Sentar     Ficar em pé        Deitar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AA0CE5-22B5-C66D-8DD3-4F5B4E55713B}"/>
              </a:ext>
            </a:extLst>
          </p:cNvPr>
          <p:cNvSpPr txBox="1"/>
          <p:nvPr/>
        </p:nvSpPr>
        <p:spPr>
          <a:xfrm>
            <a:off x="609600" y="5727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26476"/>
                </a:solidFill>
                <a:latin typeface="Segoe UI" panose="020B0502040204020203" pitchFamily="34" charset="0"/>
              </a:rPr>
              <a:t>30 voluntários com smartphone na cintura</a:t>
            </a:r>
          </a:p>
        </p:txBody>
      </p:sp>
    </p:spTree>
    <p:extLst>
      <p:ext uri="{BB962C8B-B14F-4D97-AF65-F5344CB8AC3E}">
        <p14:creationId xmlns:p14="http://schemas.microsoft.com/office/powerpoint/2010/main" val="3389805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BC85C3E-C948-4017-9716-FF066FCD8AC7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Treinamento com pessoas separadas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F947B4A-BC93-0BE0-A0C4-6CCC2BD0535D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04 / 10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68371C6-8A74-A8E6-7587-765D1B846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617548"/>
              </p:ext>
            </p:extLst>
          </p:nvPr>
        </p:nvGraphicFramePr>
        <p:xfrm>
          <a:off x="609600" y="1943100"/>
          <a:ext cx="10972800" cy="2336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363618001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592127835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3438414732"/>
                    </a:ext>
                  </a:extLst>
                </a:gridCol>
              </a:tblGrid>
              <a:tr h="778933">
                <a:tc>
                  <a:txBody>
                    <a:bodyPr/>
                    <a:lstStyle/>
                    <a:p>
                      <a:r>
                        <a:rPr lang="pt-BR" sz="2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Conjunto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Janelas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Pessoas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1793358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Treino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7.352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21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294121"/>
                  </a:ext>
                </a:extLst>
              </a:tr>
              <a:tr h="778933"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Teste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2.947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3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9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95105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1A3B161-4AA9-890A-3D34-978A5E52407F}"/>
              </a:ext>
            </a:extLst>
          </p:cNvPr>
          <p:cNvSpPr txBox="1"/>
          <p:nvPr/>
        </p:nvSpPr>
        <p:spPr>
          <a:xfrm>
            <a:off x="609600" y="4737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87F8C"/>
                </a:solidFill>
                <a:latin typeface="Segoe UI" panose="020B0502040204020203" pitchFamily="34" charset="0"/>
              </a:rPr>
              <a:t>Validação interna por participante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903954A-B6BF-A1B9-9333-93468FC26B43}"/>
              </a:ext>
            </a:extLst>
          </p:cNvPr>
          <p:cNvSpPr txBox="1"/>
          <p:nvPr/>
        </p:nvSpPr>
        <p:spPr>
          <a:xfrm>
            <a:off x="609600" y="5334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200">
                <a:solidFill>
                  <a:srgbClr val="122333"/>
                </a:solidFill>
                <a:latin typeface="Segoe UI" panose="020B0502040204020203" pitchFamily="34" charset="0"/>
              </a:rPr>
              <a:t>C = 1 escolhido com 95,58% de acurácia na validação</a:t>
            </a:r>
          </a:p>
        </p:txBody>
      </p:sp>
    </p:spTree>
    <p:extLst>
      <p:ext uri="{BB962C8B-B14F-4D97-AF65-F5344CB8AC3E}">
        <p14:creationId xmlns:p14="http://schemas.microsoft.com/office/powerpoint/2010/main" val="524426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90720D-50B5-68F7-5AC0-DAC1CC211D38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Classificador linear multiclasse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1BA697-E09B-1D0D-E2D6-7CD8F57F99E6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05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E70A903-E32F-3C75-964B-84D9CA6CB954}"/>
              </a:ext>
            </a:extLst>
          </p:cNvPr>
          <p:cNvSpPr txBox="1"/>
          <p:nvPr/>
        </p:nvSpPr>
        <p:spPr>
          <a:xfrm>
            <a:off x="609600" y="2095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600" b="1">
                <a:solidFill>
                  <a:srgbClr val="087F8C"/>
                </a:solidFill>
                <a:latin typeface="Segoe UI" panose="020B0502040204020203" pitchFamily="34" charset="0"/>
              </a:rPr>
              <a:t>escore = bias + soma(entrada × peso)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9FC4C6-A678-897D-D4C2-B89B63DE628C}"/>
              </a:ext>
            </a:extLst>
          </p:cNvPr>
          <p:cNvSpPr txBox="1"/>
          <p:nvPr/>
        </p:nvSpPr>
        <p:spPr>
          <a:xfrm>
            <a:off x="609600" y="3708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600">
                <a:solidFill>
                  <a:srgbClr val="122333"/>
                </a:solidFill>
                <a:latin typeface="Segoe UI" panose="020B0502040204020203" pitchFamily="34" charset="0"/>
              </a:rPr>
              <a:t>561 entradas e 6 escores de saída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B231DE-5501-EA99-552E-9D036A4BFB0D}"/>
              </a:ext>
            </a:extLst>
          </p:cNvPr>
          <p:cNvSpPr txBox="1"/>
          <p:nvPr/>
        </p:nvSpPr>
        <p:spPr>
          <a:xfrm>
            <a:off x="609600" y="4432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600">
                <a:solidFill>
                  <a:srgbClr val="122333"/>
                </a:solidFill>
                <a:latin typeface="Segoe UI" panose="020B0502040204020203" pitchFamily="34" charset="0"/>
              </a:rPr>
              <a:t>3.366 multiplicações por janela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C03BDFB-725A-A45E-C97B-7B9D89E85902}"/>
              </a:ext>
            </a:extLst>
          </p:cNvPr>
          <p:cNvSpPr txBox="1"/>
          <p:nvPr/>
        </p:nvSpPr>
        <p:spPr>
          <a:xfrm>
            <a:off x="609600" y="5321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526476"/>
                </a:solidFill>
                <a:latin typeface="Segoe UI" panose="020B0502040204020203" pitchFamily="34" charset="0"/>
              </a:rPr>
              <a:t>O maior escore determina a classe</a:t>
            </a:r>
          </a:p>
        </p:txBody>
      </p:sp>
    </p:spTree>
    <p:extLst>
      <p:ext uri="{BB962C8B-B14F-4D97-AF65-F5344CB8AC3E}">
        <p14:creationId xmlns:p14="http://schemas.microsoft.com/office/powerpoint/2010/main" val="2234741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D51B687-7EED-F67B-B3EF-1C5314C87A02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Quantização para inferência inteira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9AC6A7-361B-6294-3014-894FAA8D9BEF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06 / 10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8827FDA-3441-8097-F199-1A819CB16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391522"/>
              </p:ext>
            </p:extLst>
          </p:nvPr>
        </p:nvGraphicFramePr>
        <p:xfrm>
          <a:off x="609600" y="1993900"/>
          <a:ext cx="10972800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69000">
                  <a:extLst>
                    <a:ext uri="{9D8B030D-6E8A-4147-A177-3AD203B41FA5}">
                      <a16:colId xmlns:a16="http://schemas.microsoft.com/office/drawing/2014/main" val="2022256203"/>
                    </a:ext>
                  </a:extLst>
                </a:gridCol>
                <a:gridCol w="5003800">
                  <a:extLst>
                    <a:ext uri="{9D8B030D-6E8A-4147-A177-3AD203B41FA5}">
                      <a16:colId xmlns:a16="http://schemas.microsoft.com/office/drawing/2014/main" val="3587319983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r>
                        <a:rPr lang="pt-BR" sz="24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Componente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Formato no ESP32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880377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pt-BR" sz="24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Entradas e pesos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int8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629836"/>
                  </a:ext>
                </a:extLst>
              </a:tr>
              <a:tr h="774700">
                <a:tc>
                  <a:txBody>
                    <a:bodyPr/>
                    <a:lstStyle/>
                    <a:p>
                      <a:r>
                        <a:rPr lang="pt-BR" sz="24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Bias e acumulador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int32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578605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24C25A1-AD23-B0E6-BBB0-EB102C022AF3}"/>
              </a:ext>
            </a:extLst>
          </p:cNvPr>
          <p:cNvSpPr txBox="1"/>
          <p:nvPr/>
        </p:nvSpPr>
        <p:spPr>
          <a:xfrm>
            <a:off x="609600" y="4864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700" b="1">
                <a:solidFill>
                  <a:srgbClr val="087F8C"/>
                </a:solidFill>
                <a:latin typeface="Segoe UI" panose="020B0502040204020203" pitchFamily="34" charset="0"/>
              </a:rPr>
              <a:t>Entrada quantizada: arredondar(x × 127)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3C8BED3-8AFD-C524-B419-6BE4A1F06E94}"/>
              </a:ext>
            </a:extLst>
          </p:cNvPr>
          <p:cNvSpPr txBox="1"/>
          <p:nvPr/>
        </p:nvSpPr>
        <p:spPr>
          <a:xfrm>
            <a:off x="609600" y="5613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526476"/>
                </a:solidFill>
                <a:latin typeface="Segoe UI" panose="020B0502040204020203" pitchFamily="34" charset="0"/>
              </a:rPr>
              <a:t>Multiplicações e somas inteiras no núcleo de inferência</a:t>
            </a:r>
          </a:p>
        </p:txBody>
      </p:sp>
    </p:spTree>
    <p:extLst>
      <p:ext uri="{BB962C8B-B14F-4D97-AF65-F5344CB8AC3E}">
        <p14:creationId xmlns:p14="http://schemas.microsoft.com/office/powerpoint/2010/main" val="118146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A0B946-BC8A-5835-DF72-72D2B423C78E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Resultados e memória do modelo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5C51E21-8992-8EB0-D95A-A7DB06F2C54C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07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44379A-ECFE-B354-7220-738C1C4BDB12}"/>
              </a:ext>
            </a:extLst>
          </p:cNvPr>
          <p:cNvSpPr txBox="1"/>
          <p:nvPr/>
        </p:nvSpPr>
        <p:spPr>
          <a:xfrm>
            <a:off x="609600" y="1778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6200" b="1">
                <a:solidFill>
                  <a:srgbClr val="122333"/>
                </a:solidFill>
                <a:latin typeface="Segoe UI" panose="020B0502040204020203" pitchFamily="34" charset="0"/>
              </a:rPr>
              <a:t>96,13%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D454B3-0BAC-4D93-9606-5BD9A8359F61}"/>
              </a:ext>
            </a:extLst>
          </p:cNvPr>
          <p:cNvSpPr txBox="1"/>
          <p:nvPr/>
        </p:nvSpPr>
        <p:spPr>
          <a:xfrm>
            <a:off x="660400" y="30353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200">
                <a:solidFill>
                  <a:srgbClr val="526476"/>
                </a:solidFill>
                <a:latin typeface="Segoe UI" panose="020B0502040204020203" pitchFamily="34" charset="0"/>
              </a:rPr>
              <a:t>Acurácia float32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D6E69C-B6CF-E2B4-2C02-3AE8B41A56A3}"/>
              </a:ext>
            </a:extLst>
          </p:cNvPr>
          <p:cNvSpPr txBox="1"/>
          <p:nvPr/>
        </p:nvSpPr>
        <p:spPr>
          <a:xfrm>
            <a:off x="6781800" y="1778000"/>
            <a:ext cx="4775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6200" b="1">
                <a:solidFill>
                  <a:srgbClr val="087F8C"/>
                </a:solidFill>
                <a:latin typeface="Segoe UI" panose="020B0502040204020203" pitchFamily="34" charset="0"/>
              </a:rPr>
              <a:t>96,37%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340537-2F5B-6B91-B8DB-5B550CCA3560}"/>
              </a:ext>
            </a:extLst>
          </p:cNvPr>
          <p:cNvSpPr txBox="1"/>
          <p:nvPr/>
        </p:nvSpPr>
        <p:spPr>
          <a:xfrm>
            <a:off x="6832600" y="3035300"/>
            <a:ext cx="476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200">
                <a:solidFill>
                  <a:srgbClr val="526476"/>
                </a:solidFill>
                <a:latin typeface="Segoe UI" panose="020B0502040204020203" pitchFamily="34" charset="0"/>
              </a:rPr>
              <a:t>Acurácia quantizada</a:t>
            </a:r>
          </a:p>
        </p:txBody>
      </p:sp>
      <p:graphicFrame>
        <p:nvGraphicFramePr>
          <p:cNvPr id="8" name="Gráfico editável 1"/>
          <p:cNvGraphicFramePr/>
          <p:nvPr/>
        </p:nvGraphicFramePr>
        <p:xfrm>
          <a:off x="546100" y="3810000"/>
          <a:ext cx="82296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7135AAD4-6460-B94B-99DE-6B64CD7DB6A2}"/>
              </a:ext>
            </a:extLst>
          </p:cNvPr>
          <p:cNvSpPr txBox="1"/>
          <p:nvPr/>
        </p:nvSpPr>
        <p:spPr>
          <a:xfrm>
            <a:off x="9080500" y="4127500"/>
            <a:ext cx="2768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900" b="1">
                <a:solidFill>
                  <a:srgbClr val="087F8C"/>
                </a:solidFill>
                <a:latin typeface="Segoe UI" panose="020B0502040204020203" pitchFamily="34" charset="0"/>
              </a:rPr>
              <a:t>−74,87%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A660C67-AAEB-4C12-EED3-F6C20E91D12A}"/>
              </a:ext>
            </a:extLst>
          </p:cNvPr>
          <p:cNvSpPr txBox="1"/>
          <p:nvPr/>
        </p:nvSpPr>
        <p:spPr>
          <a:xfrm>
            <a:off x="9131300" y="50419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100">
                <a:solidFill>
                  <a:srgbClr val="526476"/>
                </a:solidFill>
                <a:latin typeface="Segoe UI" panose="020B0502040204020203" pitchFamily="34" charset="0"/>
              </a:rPr>
              <a:t>memória dos</a:t>
            </a:r>
          </a:p>
          <a:p>
            <a:r>
              <a:rPr lang="pt-BR" sz="2100">
                <a:solidFill>
                  <a:srgbClr val="526476"/>
                </a:solidFill>
                <a:latin typeface="Segoe UI" panose="020B0502040204020203" pitchFamily="34" charset="0"/>
              </a:rPr>
              <a:t>parâmetros</a:t>
            </a:r>
          </a:p>
        </p:txBody>
      </p:sp>
    </p:spTree>
    <p:extLst>
      <p:ext uri="{BB962C8B-B14F-4D97-AF65-F5344CB8AC3E}">
        <p14:creationId xmlns:p14="http://schemas.microsoft.com/office/powerpoint/2010/main" val="30119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B42D845-AA57-09B9-8F42-0794035DD0B8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Erros entre sentado e em pé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2320AD-5EDF-BB52-DDC6-166A0191214F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08 / 10</a:t>
            </a:r>
          </a:p>
        </p:txBody>
      </p:sp>
      <p:graphicFrame>
        <p:nvGraphicFramePr>
          <p:cNvPr id="4" name="Gráfico editável 2"/>
          <p:cNvGraphicFramePr/>
          <p:nvPr/>
        </p:nvGraphicFramePr>
        <p:xfrm>
          <a:off x="406400" y="1739900"/>
          <a:ext cx="8318500" cy="429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917DECFE-BEB8-61F1-0D64-EC203C5EDB4D}"/>
              </a:ext>
            </a:extLst>
          </p:cNvPr>
          <p:cNvSpPr txBox="1"/>
          <p:nvPr/>
        </p:nvSpPr>
        <p:spPr>
          <a:xfrm>
            <a:off x="9410700" y="20828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5400" b="1">
                <a:solidFill>
                  <a:srgbClr val="087F8C"/>
                </a:solidFill>
                <a:latin typeface="Segoe UI" panose="020B0502040204020203" pitchFamily="34" charset="0"/>
              </a:rPr>
              <a:t>47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E12E406-1993-C866-B8DF-9F4F0E711455}"/>
              </a:ext>
            </a:extLst>
          </p:cNvPr>
          <p:cNvSpPr txBox="1"/>
          <p:nvPr/>
        </p:nvSpPr>
        <p:spPr>
          <a:xfrm>
            <a:off x="9448800" y="31369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122333"/>
                </a:solidFill>
                <a:latin typeface="Segoe UI" panose="020B0502040204020203" pitchFamily="34" charset="0"/>
              </a:rPr>
              <a:t>sentado previsto</a:t>
            </a:r>
          </a:p>
          <a:p>
            <a:r>
              <a:rPr lang="pt-BR" sz="2000">
                <a:solidFill>
                  <a:srgbClr val="122333"/>
                </a:solidFill>
                <a:latin typeface="Segoe UI" panose="020B0502040204020203" pitchFamily="34" charset="0"/>
              </a:rPr>
              <a:t>como em pé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3407F2-EEB2-FE42-81EB-66502A8AEE1D}"/>
              </a:ext>
            </a:extLst>
          </p:cNvPr>
          <p:cNvSpPr txBox="1"/>
          <p:nvPr/>
        </p:nvSpPr>
        <p:spPr>
          <a:xfrm>
            <a:off x="609600" y="6032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526476"/>
                </a:solidFill>
                <a:latin typeface="Segoe UI" panose="020B0502040204020203" pitchFamily="34" charset="0"/>
              </a:rPr>
              <a:t>Recall por atividade no teste oficial</a:t>
            </a:r>
          </a:p>
        </p:txBody>
      </p:sp>
    </p:spTree>
    <p:extLst>
      <p:ext uri="{BB962C8B-B14F-4D97-AF65-F5344CB8AC3E}">
        <p14:creationId xmlns:p14="http://schemas.microsoft.com/office/powerpoint/2010/main" val="421567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7D15C4-C7A8-D433-758A-DEA476E6F625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Demonstração no Wokwi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5447FF-5179-4FFA-9D81-2733AF43A879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09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1A9E70-08BE-D10B-893E-C7F9A58FBA1C}"/>
              </a:ext>
            </a:extLst>
          </p:cNvPr>
          <p:cNvSpPr txBox="1"/>
          <p:nvPr/>
        </p:nvSpPr>
        <p:spPr>
          <a:xfrm>
            <a:off x="609600" y="1981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900" b="1">
                <a:solidFill>
                  <a:srgbClr val="087F8C"/>
                </a:solidFill>
                <a:latin typeface="Segoe UI" panose="020B0502040204020203" pitchFamily="34" charset="0"/>
              </a:rPr>
              <a:t>30 exemplos para acompanhar a classificação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321830-F759-7418-D82C-34928E866449}"/>
              </a:ext>
            </a:extLst>
          </p:cNvPr>
          <p:cNvSpPr txBox="1"/>
          <p:nvPr/>
        </p:nvSpPr>
        <p:spPr>
          <a:xfrm>
            <a:off x="609600" y="3111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122333"/>
                </a:solidFill>
                <a:latin typeface="Segoe UI" panose="020B0502040204020203" pitchFamily="34" charset="0"/>
              </a:rPr>
              <a:t>Cinco janelas de cada atividade, com LED de acerto ou erro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FA366A-9531-B802-3C3E-BCC21B8A60A2}"/>
              </a:ext>
            </a:extLst>
          </p:cNvPr>
          <p:cNvSpPr txBox="1"/>
          <p:nvPr/>
        </p:nvSpPr>
        <p:spPr>
          <a:xfrm>
            <a:off x="609600" y="4203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900" b="1">
                <a:solidFill>
                  <a:srgbClr val="122333"/>
                </a:solidFill>
                <a:latin typeface="Segoe UI" panose="020B0502040204020203" pitchFamily="34" charset="0"/>
              </a:rPr>
              <a:t>Teste completo: 2.947 janelas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5847228-EC3B-DE0D-16D2-EF3DE53CCD64}"/>
              </a:ext>
            </a:extLst>
          </p:cNvPr>
          <p:cNvSpPr txBox="1"/>
          <p:nvPr/>
        </p:nvSpPr>
        <p:spPr>
          <a:xfrm>
            <a:off x="609600" y="5016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300">
                <a:solidFill>
                  <a:srgbClr val="526476"/>
                </a:solidFill>
                <a:latin typeface="Segoe UI" panose="020B0502040204020203" pitchFamily="34" charset="0"/>
              </a:rPr>
              <a:t>Referência verificada em C: 2.840 acertos (96,3692%)</a:t>
            </a:r>
          </a:p>
        </p:txBody>
      </p:sp>
    </p:spTree>
    <p:extLst>
      <p:ext uri="{BB962C8B-B14F-4D97-AF65-F5344CB8AC3E}">
        <p14:creationId xmlns:p14="http://schemas.microsoft.com/office/powerpoint/2010/main" val="4303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EACAAA9-5E76-DA29-595A-C705CEE98ED6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Conclusão e próximos passos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D539F-C945-B823-472C-71C3AF681909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10 / 10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5C0CADD-CFD5-EA0C-862F-CB6BD23B33C0}"/>
              </a:ext>
            </a:extLst>
          </p:cNvPr>
          <p:cNvSpPr txBox="1"/>
          <p:nvPr/>
        </p:nvSpPr>
        <p:spPr>
          <a:xfrm>
            <a:off x="609600" y="2044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087F8C"/>
                </a:solidFill>
                <a:latin typeface="Segoe UI" panose="020B0502040204020203" pitchFamily="34" charset="0"/>
              </a:rPr>
              <a:t>Inferência inteira com 3.390 bytes de parâmetros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C70765-7556-0619-05BC-29B338307D2F}"/>
              </a:ext>
            </a:extLst>
          </p:cNvPr>
          <p:cNvSpPr txBox="1"/>
          <p:nvPr/>
        </p:nvSpPr>
        <p:spPr>
          <a:xfrm>
            <a:off x="609600" y="37973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122333"/>
                </a:solidFill>
                <a:latin typeface="Segoe UI" panose="020B0502040204020203" pitchFamily="34" charset="0"/>
              </a:rPr>
              <a:t>Próxima etapa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78B728-670D-79DC-720D-9044C389F723}"/>
              </a:ext>
            </a:extLst>
          </p:cNvPr>
          <p:cNvSpPr txBox="1"/>
          <p:nvPr/>
        </p:nvSpPr>
        <p:spPr>
          <a:xfrm>
            <a:off x="609600" y="4457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>
                <a:solidFill>
                  <a:srgbClr val="122333"/>
                </a:solidFill>
                <a:latin typeface="Segoe UI" panose="020B0502040204020203" pitchFamily="34" charset="0"/>
              </a:rPr>
              <a:t>Extrair características dos sinais de um sensor real</a:t>
            </a:r>
          </a:p>
          <a:p>
            <a:r>
              <a:rPr lang="pt-BR" sz="2400">
                <a:solidFill>
                  <a:srgbClr val="122333"/>
                </a:solidFill>
                <a:latin typeface="Segoe UI" panose="020B0502040204020203" pitchFamily="34" charset="0"/>
              </a:rPr>
              <a:t>Medir o desempenho em uma placa física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59536A2-3F9B-B322-ED21-1B4FAF4300C1}"/>
              </a:ext>
            </a:extLst>
          </p:cNvPr>
          <p:cNvSpPr txBox="1"/>
          <p:nvPr/>
        </p:nvSpPr>
        <p:spPr>
          <a:xfrm>
            <a:off x="609600" y="5918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526476"/>
                </a:solidFill>
                <a:latin typeface="Segoe UI" panose="020B0502040204020203" pitchFamily="34" charset="0"/>
              </a:rPr>
              <a:t>Avaliação restrita às seis atividades do UCI HAR</a:t>
            </a:r>
          </a:p>
        </p:txBody>
      </p:sp>
    </p:spTree>
    <p:extLst>
      <p:ext uri="{BB962C8B-B14F-4D97-AF65-F5344CB8AC3E}">
        <p14:creationId xmlns:p14="http://schemas.microsoft.com/office/powerpoint/2010/main" val="338149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C331954-FB16-6653-E1CB-DFC21F0714C0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Apoio: escalas da quantização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179A3B-D721-C7D9-D3E3-81D834FAB529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APOIO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CE8C62-A7F9-D5C0-4C74-CE147497963F}"/>
              </a:ext>
            </a:extLst>
          </p:cNvPr>
          <p:cNvSpPr txBox="1"/>
          <p:nvPr/>
        </p:nvSpPr>
        <p:spPr>
          <a:xfrm>
            <a:off x="609600" y="18796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700" b="1">
                <a:solidFill>
                  <a:srgbClr val="087F8C"/>
                </a:solidFill>
                <a:latin typeface="Segoe UI" panose="020B0502040204020203" pitchFamily="34" charset="0"/>
              </a:rPr>
              <a:t>qx = clip(arredondar(x × 127), −127, 127)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10A5AF-AE84-AB75-D17F-E2109F1C2D12}"/>
              </a:ext>
            </a:extLst>
          </p:cNvPr>
          <p:cNvSpPr txBox="1"/>
          <p:nvPr/>
        </p:nvSpPr>
        <p:spPr>
          <a:xfrm>
            <a:off x="609600" y="2819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700">
                <a:solidFill>
                  <a:srgbClr val="122333"/>
                </a:solidFill>
                <a:latin typeface="Segoe UI" panose="020B0502040204020203" pitchFamily="34" charset="0"/>
              </a:rPr>
              <a:t>sw = máximo(|W|) / 127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4E7A08D-61E4-4D9B-650C-266EFEE61CA4}"/>
              </a:ext>
            </a:extLst>
          </p:cNvPr>
          <p:cNvSpPr txBox="1"/>
          <p:nvPr/>
        </p:nvSpPr>
        <p:spPr>
          <a:xfrm>
            <a:off x="609600" y="36957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700">
                <a:solidFill>
                  <a:srgbClr val="122333"/>
                </a:solidFill>
                <a:latin typeface="Segoe UI" panose="020B0502040204020203" pitchFamily="34" charset="0"/>
              </a:rPr>
              <a:t>qW = arredondar(W / sw)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600B625-2FF6-E789-131E-31248A6EF08B}"/>
              </a:ext>
            </a:extLst>
          </p:cNvPr>
          <p:cNvSpPr txBox="1"/>
          <p:nvPr/>
        </p:nvSpPr>
        <p:spPr>
          <a:xfrm>
            <a:off x="609600" y="4572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700">
                <a:solidFill>
                  <a:srgbClr val="122333"/>
                </a:solidFill>
                <a:latin typeface="Segoe UI" panose="020B0502040204020203" pitchFamily="34" charset="0"/>
              </a:rPr>
              <a:t>qb = arredondar(b / (sx × sw))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D32D5B2-26C8-998B-3E61-AB7498C6F49F}"/>
              </a:ext>
            </a:extLst>
          </p:cNvPr>
          <p:cNvSpPr txBox="1"/>
          <p:nvPr/>
        </p:nvSpPr>
        <p:spPr>
          <a:xfrm>
            <a:off x="609600" y="5664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000">
                <a:solidFill>
                  <a:srgbClr val="526476"/>
                </a:solidFill>
                <a:latin typeface="Segoe UI" panose="020B0502040204020203" pitchFamily="34" charset="0"/>
              </a:rPr>
              <a:t>Bias e acumulador int32. Escala comum a todas as classes.</a:t>
            </a:r>
          </a:p>
        </p:txBody>
      </p:sp>
    </p:spTree>
    <p:extLst>
      <p:ext uri="{BB962C8B-B14F-4D97-AF65-F5344CB8AC3E}">
        <p14:creationId xmlns:p14="http://schemas.microsoft.com/office/powerpoint/2010/main" val="54857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8E33C26-E607-57A2-5140-C279B6471AC6}"/>
              </a:ext>
            </a:extLst>
          </p:cNvPr>
          <p:cNvSpPr txBox="1"/>
          <p:nvPr/>
        </p:nvSpPr>
        <p:spPr>
          <a:xfrm>
            <a:off x="609600" y="50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3200" b="1">
                <a:solidFill>
                  <a:srgbClr val="122333"/>
                </a:solidFill>
                <a:latin typeface="Segoe UI" panose="020B0502040204020203" pitchFamily="34" charset="0"/>
              </a:rPr>
              <a:t>Apoio: matriz de confusão completa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9AE6D4-9F1F-42C9-3673-97F182301936}"/>
              </a:ext>
            </a:extLst>
          </p:cNvPr>
          <p:cNvSpPr txBox="1"/>
          <p:nvPr/>
        </p:nvSpPr>
        <p:spPr>
          <a:xfrm>
            <a:off x="10541000" y="6375400"/>
            <a:ext cx="1079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26476"/>
                </a:solidFill>
                <a:latin typeface="Segoe UI" panose="020B0502040204020203" pitchFamily="34" charset="0"/>
              </a:rPr>
              <a:t>APOIO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DBA55EF-7517-B1AC-72C8-5E38BF22C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893801"/>
              </p:ext>
            </p:extLst>
          </p:nvPr>
        </p:nvGraphicFramePr>
        <p:xfrm>
          <a:off x="609600" y="1816100"/>
          <a:ext cx="10972800" cy="345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327354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9292772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0388068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412316116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72321521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439075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929613787"/>
                    </a:ext>
                  </a:extLst>
                </a:gridCol>
              </a:tblGrid>
              <a:tr h="493486"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Real / previsto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122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68227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493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704642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23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447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98442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12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405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3414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3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441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47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374756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5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1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14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517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6235920"/>
                  </a:ext>
                </a:extLst>
              </a:tr>
              <a:tr h="493486"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6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0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900" b="0">
                          <a:solidFill>
                            <a:srgbClr val="122333"/>
                          </a:solidFill>
                          <a:latin typeface="Segoe UI" panose="020B0502040204020203" pitchFamily="34" charset="0"/>
                        </a:rPr>
                        <a:t>537</a:t>
                      </a:r>
                    </a:p>
                  </a:txBody>
                  <a:tcPr marL="177800" marR="127000" anchor="ctr">
                    <a:lnL w="6350" cmpd="sng">
                      <a:solidFill>
                        <a:srgbClr val="CED9DF"/>
                      </a:solidFill>
                    </a:lnL>
                    <a:lnR w="6350" cmpd="sng">
                      <a:solidFill>
                        <a:srgbClr val="CED9DF"/>
                      </a:solidFill>
                    </a:lnR>
                    <a:lnT w="6350" cmpd="sng">
                      <a:solidFill>
                        <a:srgbClr val="CED9DF"/>
                      </a:solidFill>
                    </a:lnT>
                    <a:lnB w="6350" cmpd="sng">
                      <a:solidFill>
                        <a:srgbClr val="CED9D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2565018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8395A77C-1352-7572-06EF-21E5FA3C97C4}"/>
              </a:ext>
            </a:extLst>
          </p:cNvPr>
          <p:cNvSpPr txBox="1"/>
          <p:nvPr/>
        </p:nvSpPr>
        <p:spPr>
          <a:xfrm>
            <a:off x="609600" y="56261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>
                <a:solidFill>
                  <a:srgbClr val="526476"/>
                </a:solidFill>
                <a:latin typeface="Segoe UI" panose="020B0502040204020203" pitchFamily="34" charset="0"/>
              </a:rPr>
              <a:t>1 Andando   2 Subindo escadas   3 Descendo escadas</a:t>
            </a:r>
          </a:p>
          <a:p>
            <a:r>
              <a:rPr lang="pt-BR">
                <a:solidFill>
                  <a:srgbClr val="526476"/>
                </a:solidFill>
                <a:latin typeface="Segoe UI" panose="020B0502040204020203" pitchFamily="34" charset="0"/>
              </a:rPr>
              <a:t>4 Sentado    5 Em pé                    6 Deitado</a:t>
            </a:r>
          </a:p>
        </p:txBody>
      </p:sp>
    </p:spTree>
    <p:extLst>
      <p:ext uri="{BB962C8B-B14F-4D97-AF65-F5344CB8AC3E}">
        <p14:creationId xmlns:p14="http://schemas.microsoft.com/office/powerpoint/2010/main" val="25345628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2317</Words>
  <Application>Microsoft Office PowerPoint</Application>
  <PresentationFormat>Widescreen</PresentationFormat>
  <Paragraphs>232</Paragraphs>
  <Slides>12</Slides>
  <Notes>12</Notes>
  <HiddenSlides>2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Carlos Ferraz de Andrade</dc:creator>
  <cp:lastModifiedBy>Antonio Carlos Ferraz de Andrade</cp:lastModifiedBy>
  <cp:revision>2</cp:revision>
  <dcterms:created xsi:type="dcterms:W3CDTF">2026-10-06T03:47:36Z</dcterms:created>
  <dcterms:modified xsi:type="dcterms:W3CDTF">2026-10-06T04:11:18Z</dcterms:modified>
</cp:coreProperties>
</file>